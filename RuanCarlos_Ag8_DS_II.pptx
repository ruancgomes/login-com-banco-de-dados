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71360ba94438f18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71360ba94438f1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71360ba94438f18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71360ba94438f18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71360ba94438f1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71360ba94438f1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71360ba94438f18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71360ba94438f18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71360ba94438f18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71360ba94438f1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71360ba94438f18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71360ba94438f18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4450" y="303000"/>
            <a:ext cx="621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</a:rPr>
              <a:t>O código está dividido entre </a:t>
            </a:r>
            <a:r>
              <a:rPr b="1" lang="pt-BR" sz="2200">
                <a:solidFill>
                  <a:srgbClr val="C57EF4"/>
                </a:solidFill>
              </a:rPr>
              <a:t>6 arquivos “.php”</a:t>
            </a:r>
            <a:r>
              <a:rPr lang="pt-BR" sz="2200">
                <a:solidFill>
                  <a:schemeClr val="lt1"/>
                </a:solidFill>
              </a:rPr>
              <a:t>:</a:t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29859"/>
          <a:stretch/>
        </p:blipFill>
        <p:spPr>
          <a:xfrm>
            <a:off x="292825" y="1299525"/>
            <a:ext cx="3812975" cy="19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350" y="3727700"/>
            <a:ext cx="2368800" cy="913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661550" y="1046676"/>
            <a:ext cx="3061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C57EF4"/>
              </a:buClr>
              <a:buSzPts val="2500"/>
              <a:buAutoNum type="arabicPeriod"/>
            </a:pPr>
            <a:r>
              <a:rPr lang="pt-BR" sz="2500">
                <a:solidFill>
                  <a:schemeClr val="lt1"/>
                </a:solidFill>
              </a:rPr>
              <a:t>“conexaoBD”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C57EF4"/>
              </a:buClr>
              <a:buSzPts val="2500"/>
              <a:buAutoNum type="arabicPeriod"/>
            </a:pPr>
            <a:r>
              <a:rPr lang="pt-BR" sz="2500">
                <a:solidFill>
                  <a:schemeClr val="lt1"/>
                </a:solidFill>
              </a:rPr>
              <a:t>“index”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C57EF4"/>
              </a:buClr>
              <a:buSzPts val="2500"/>
              <a:buAutoNum type="arabicPeriod"/>
            </a:pPr>
            <a:r>
              <a:rPr lang="pt-BR" sz="2500">
                <a:solidFill>
                  <a:schemeClr val="lt1"/>
                </a:solidFill>
              </a:rPr>
              <a:t>“loginAction”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C57EF4"/>
              </a:buClr>
              <a:buSzPts val="2500"/>
              <a:buAutoNum type="arabicPeriod"/>
            </a:pPr>
            <a:r>
              <a:rPr lang="pt-BR" sz="2500">
                <a:solidFill>
                  <a:schemeClr val="lt1"/>
                </a:solidFill>
              </a:rPr>
              <a:t>“professor”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C57EF4"/>
              </a:buClr>
              <a:buSzPts val="2500"/>
              <a:buAutoNum type="arabicPeriod"/>
            </a:pPr>
            <a:r>
              <a:rPr lang="pt-BR" sz="2500">
                <a:solidFill>
                  <a:schemeClr val="lt1"/>
                </a:solidFill>
              </a:rPr>
              <a:t>“logoutAction”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C57EF4"/>
              </a:buClr>
              <a:buSzPts val="2500"/>
              <a:buAutoNum type="arabicPeriod"/>
            </a:pPr>
            <a:r>
              <a:rPr lang="pt-BR" sz="2500">
                <a:solidFill>
                  <a:schemeClr val="lt1"/>
                </a:solidFill>
              </a:rPr>
              <a:t>“acessoNegado”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907800" y="3753388"/>
            <a:ext cx="456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</a:rPr>
              <a:t>E </a:t>
            </a:r>
            <a:r>
              <a:rPr b="1" lang="pt-BR" sz="2200">
                <a:solidFill>
                  <a:srgbClr val="77BEFF"/>
                </a:solidFill>
              </a:rPr>
              <a:t>um banco de dados</a:t>
            </a:r>
            <a:r>
              <a:rPr lang="pt-BR" sz="2200">
                <a:solidFill>
                  <a:schemeClr val="lt1"/>
                </a:solidFill>
              </a:rPr>
              <a:t>, que chamamos de </a:t>
            </a:r>
            <a:r>
              <a:rPr b="1" lang="pt-BR" sz="2200">
                <a:solidFill>
                  <a:srgbClr val="77BEFF"/>
                </a:solidFill>
              </a:rPr>
              <a:t>“Pwii”</a:t>
            </a:r>
            <a:r>
              <a:rPr b="1" lang="pt-BR" sz="2200">
                <a:solidFill>
                  <a:schemeClr val="lt1"/>
                </a:solidFill>
              </a:rPr>
              <a:t>.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96075" y="747513"/>
            <a:ext cx="342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 u="sng">
                <a:solidFill>
                  <a:srgbClr val="77BEFF"/>
                </a:solidFill>
              </a:rPr>
              <a:t>Banco de dados</a:t>
            </a:r>
            <a:endParaRPr b="1" sz="3200" u="sng">
              <a:solidFill>
                <a:srgbClr val="77BEFF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625" y="368925"/>
            <a:ext cx="5214325" cy="14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187400" y="2084000"/>
            <a:ext cx="6769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É neste documento que fica armazenado todos os professores registrados, e suas respectivas disciplinas, número de ID e senhas.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O Paulo, por exemplo, seu ID é “1”, sua disciplina é programação WEB II, e sua senha é “paulo123”.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Esse banco de dados será utilizado depois, como iremos ver, para a funcionalidade do projeto.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681150" y="2778650"/>
            <a:ext cx="7781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Caso não saibam, um banco de dados normalmente é protegido por uma senha, por isso o propósito deste arquivo é </a:t>
            </a:r>
            <a:r>
              <a:rPr b="1" lang="pt-BR" sz="1800">
                <a:solidFill>
                  <a:schemeClr val="lt1"/>
                </a:solidFill>
              </a:rPr>
              <a:t>estabelecer uma conexão com o banco de dados para utilizar suas informações.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Neste caso, as primeiras linhas (2-6) utilizam os valores exibidos para tentar uma conexão com o banco, e caso não consiga (8-9), apresenta uma mensagem de erro.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96550" y="148925"/>
            <a:ext cx="315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 u="sng">
                <a:solidFill>
                  <a:srgbClr val="C57EF4"/>
                </a:solidFill>
              </a:rPr>
              <a:t>“conexaoBD.php”</a:t>
            </a:r>
            <a:endParaRPr b="1" sz="2700" u="sng">
              <a:solidFill>
                <a:srgbClr val="C57EF4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000" y="855600"/>
            <a:ext cx="5438000" cy="17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5875125" y="780050"/>
            <a:ext cx="319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Agora vamos falar do site em si, que começa com o arquivo “index”.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765475" y="82400"/>
            <a:ext cx="224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 u="sng">
                <a:solidFill>
                  <a:srgbClr val="C57EF4"/>
                </a:solidFill>
              </a:rPr>
              <a:t>“index.php”</a:t>
            </a:r>
            <a:endParaRPr b="1" sz="2700" u="sng">
              <a:solidFill>
                <a:srgbClr val="C57EF4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50" y="2756525"/>
            <a:ext cx="4006576" cy="18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0" y="218625"/>
            <a:ext cx="5719925" cy="16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1896175" y="1984288"/>
            <a:ext cx="435900" cy="679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</p:txBody>
      </p:sp>
      <p:sp>
        <p:nvSpPr>
          <p:cNvPr id="82" name="Google Shape;82;p16"/>
          <p:cNvSpPr txBox="1"/>
          <p:nvPr/>
        </p:nvSpPr>
        <p:spPr>
          <a:xfrm>
            <a:off x="4320400" y="2144425"/>
            <a:ext cx="4688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O propósito dele é criar os espaços para o login dos professores, esses resultados são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transferidos para o arquivo “loginAction” (15).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Ao apertar “Entrar”, nós somos levados ao arquivo, com as nossas respostas também sendo enviadas; o</a:t>
            </a:r>
            <a:r>
              <a:rPr lang="pt-BR" sz="1800">
                <a:solidFill>
                  <a:schemeClr val="lt1"/>
                </a:solidFill>
              </a:rPr>
              <a:t> usuário como “txtNome” (18) e a senha como “txtSenha” (20).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4365500" y="2729675"/>
            <a:ext cx="4611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Após enviar as nossas respostas na página do “index”, o arquivo “loginAction” verifica se essas informações batem com aquelas do banco de dados.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Se sim, o site nos permite prosseguir (25-31), mas se não, nos leva de volta ao início. (32-45)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058350" y="34175"/>
            <a:ext cx="322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 u="sng">
                <a:solidFill>
                  <a:srgbClr val="C57EF4"/>
                </a:solidFill>
              </a:rPr>
              <a:t>“loginAction.php”</a:t>
            </a:r>
            <a:endParaRPr b="1" sz="2700" u="sng">
              <a:solidFill>
                <a:srgbClr val="C57EF4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00" y="439525"/>
            <a:ext cx="3998700" cy="395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4">
            <a:alphaModFix/>
          </a:blip>
          <a:srcRect b="18843" l="5497" r="12334" t="16690"/>
          <a:stretch/>
        </p:blipFill>
        <p:spPr>
          <a:xfrm>
            <a:off x="5830725" y="802525"/>
            <a:ext cx="3066899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5">
            <a:alphaModFix/>
          </a:blip>
          <a:srcRect b="19381" l="9394" r="12261" t="21855"/>
          <a:stretch/>
        </p:blipFill>
        <p:spPr>
          <a:xfrm>
            <a:off x="5830725" y="1961088"/>
            <a:ext cx="2076625" cy="7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4847900" y="894175"/>
            <a:ext cx="731700" cy="857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 flipH="1" rot="10800000">
            <a:off x="4847900" y="1751586"/>
            <a:ext cx="731700" cy="857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308500" y="1596175"/>
            <a:ext cx="539400" cy="15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3605015" y="2021375"/>
            <a:ext cx="5016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Caso o login funcione, nós somos levados à tabela de professores, que apresenta os mesmos dados retirados do banco, graças à “conexaoBD”.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935113" y="0"/>
            <a:ext cx="281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 u="sng">
                <a:solidFill>
                  <a:srgbClr val="C57EF4"/>
                </a:solidFill>
              </a:rPr>
              <a:t>“professor.php”</a:t>
            </a:r>
            <a:endParaRPr b="1" sz="2700" u="sng">
              <a:solidFill>
                <a:srgbClr val="C57EF4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750" y="641875"/>
            <a:ext cx="4294923" cy="12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4">
            <a:alphaModFix/>
          </a:blip>
          <a:srcRect b="2686" l="0" r="0" t="0"/>
          <a:stretch/>
        </p:blipFill>
        <p:spPr>
          <a:xfrm>
            <a:off x="145000" y="211525"/>
            <a:ext cx="3309525" cy="241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b="0" l="22982" r="0" t="26335"/>
          <a:stretch/>
        </p:blipFill>
        <p:spPr>
          <a:xfrm>
            <a:off x="6407200" y="3696150"/>
            <a:ext cx="2362175" cy="12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000" y="3934094"/>
            <a:ext cx="5220201" cy="787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145008" y="2898575"/>
            <a:ext cx="878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Este arquivo é dividido em duas partes: a primeira monta a tabela utilizando o banco de dados (28-51) e a outra apresenta o botão de “logout”, esta que está conectada ao “logoutAction”. (56-62)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3556388" y="1125613"/>
            <a:ext cx="535500" cy="29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5511981" y="4179875"/>
            <a:ext cx="770100" cy="29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0E3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/>
        </p:nvSpPr>
        <p:spPr>
          <a:xfrm>
            <a:off x="559200" y="3702425"/>
            <a:ext cx="802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E por fim, a “logoutAction”. Ao apertar o botão, nós somos levados de volta ao início e a variável de estar “logado”, que fora ativada na “loginAction”, é desativada! (6-12)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2766900" y="41600"/>
            <a:ext cx="361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 u="sng">
                <a:solidFill>
                  <a:srgbClr val="C57EF4"/>
                </a:solidFill>
              </a:rPr>
              <a:t>“logoutAction.php”</a:t>
            </a:r>
            <a:endParaRPr b="1" sz="2700" u="sng">
              <a:solidFill>
                <a:srgbClr val="C57EF4"/>
              </a:solidFill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025" y="1087425"/>
            <a:ext cx="393382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/>
          </a:blip>
          <a:srcRect b="14244" l="37444" r="13642" t="40495"/>
          <a:stretch/>
        </p:blipFill>
        <p:spPr>
          <a:xfrm>
            <a:off x="1289288" y="680588"/>
            <a:ext cx="1500175" cy="77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125" y="2138465"/>
            <a:ext cx="2924491" cy="13701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880228" y="1549416"/>
            <a:ext cx="318300" cy="496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6725" lIns="66725" spcFirstLastPara="1" rIns="66725" wrap="square" tIns="6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